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8436A5E-99D4-1299-A209-E3D7E6724A15}">
          <p14:sldIdLst>
            <p14:sldId id="267"/>
            <p14:sldId id="257"/>
          </p14:sldIdLst>
        </p14:section>
        <p14:section name="Core Concepts" id="{AD9842AC-B688-7687-E34F-2CD4FFA0291B}">
          <p14:sldIdLst>
            <p14:sldId id="258"/>
            <p14:sldId id="259"/>
            <p14:sldId id="260"/>
            <p14:sldId id="261"/>
          </p14:sldIdLst>
        </p14:section>
        <p14:section name="Architecture and Practice" id="{34541939-7CB1-5755-F873-EB09DAF79056}">
          <p14:sldIdLst>
            <p14:sldId id="262"/>
            <p14:sldId id="263"/>
            <p14:sldId id="264"/>
            <p14:sldId id="265"/>
          </p14:sldIdLst>
        </p14:section>
        <p14:section name="Wrap-up" id="{34808C88-1126-5B9B-BA46-C29AEDFC561F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181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simple goals for this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goals are called the CIA triad.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ways to think about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the yellow boxes. Those are your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cloud company protects the building and machines. You protect your data and who can reach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request moves left to right. Each step checks it. Monitoring and backup protect the whole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 has one simple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habits most companies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cloud itself was not broken. A setting was wrong. That is the customer's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a team job between you and the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4864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10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941660" y="834429"/>
            <a:ext cx="6858000" cy="900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pPr>
              <a:buSzPts val="4400"/>
            </a:pPr>
            <a:r>
              <a:rPr lang="en-US" sz="2700" b="1" dirty="0"/>
              <a:t>Cloud Security Fundamentals</a:t>
            </a:r>
            <a:endParaRPr sz="27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2742984" y="3758075"/>
            <a:ext cx="3255352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lang="en-GB" b="1" dirty="0"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endParaRPr lang="en-GB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lang="en-GB" b="1" dirty="0">
                <a:latin typeface="Times New Roman"/>
                <a:cs typeface="Times New Roman"/>
                <a:sym typeface="Times New Roman"/>
              </a:rPr>
              <a:t>R LEELA KRISHNA (192372363)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74989" y="1878635"/>
            <a:ext cx="7994022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lvl="0" algn="ctr"/>
            <a:r>
              <a:rPr lang="en-IN" sz="2400" b="1" dirty="0"/>
              <a:t>CSA1513-</a:t>
            </a:r>
            <a:r>
              <a:rPr lang="en-US" sz="2400" b="1" dirty="0"/>
              <a:t>CLOUD COMPUTING AND BIG DATA ANALYTICS</a:t>
            </a:r>
            <a:endParaRPr lang="en-IN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32DD00-C0C6-9471-31A6-05F48F9982AB}"/>
              </a:ext>
            </a:extLst>
          </p:cNvPr>
          <p:cNvSpPr txBox="1"/>
          <p:nvPr/>
        </p:nvSpPr>
        <p:spPr>
          <a:xfrm>
            <a:off x="1865225" y="2753780"/>
            <a:ext cx="54135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BE31C1-FA6B-7EB7-EA06-EC482C689105}"/>
              </a:ext>
            </a:extLst>
          </p:cNvPr>
          <p:cNvGrpSpPr>
            <a:grpSpLocks noChangeAspect="1"/>
          </p:cNvGrpSpPr>
          <p:nvPr/>
        </p:nvGrpSpPr>
        <p:grpSpPr>
          <a:xfrm>
            <a:off x="373649" y="1"/>
            <a:ext cx="7994022" cy="1263482"/>
            <a:chOff x="0" y="0"/>
            <a:chExt cx="15542513" cy="2790317"/>
          </a:xfrm>
        </p:grpSpPr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BF481C28-D3DC-E189-65C2-7ADFCF1A35B4}"/>
                </a:ext>
              </a:extLst>
            </p:cNvPr>
            <p:cNvSpPr/>
            <p:nvPr/>
          </p:nvSpPr>
          <p:spPr>
            <a:xfrm>
              <a:off x="0" y="0"/>
              <a:ext cx="15542513" cy="2790317"/>
            </a:xfrm>
            <a:custGeom>
              <a:avLst/>
              <a:gdLst/>
              <a:ahLst/>
              <a:cxnLst/>
              <a:rect l="l" t="t" r="r" b="b"/>
              <a:pathLst>
                <a:path w="15542513" h="2790317">
                  <a:moveTo>
                    <a:pt x="0" y="0"/>
                  </a:moveTo>
                  <a:lnTo>
                    <a:pt x="15542513" y="0"/>
                  </a:lnTo>
                  <a:lnTo>
                    <a:pt x="15542513" y="2790317"/>
                  </a:lnTo>
                  <a:lnTo>
                    <a:pt x="0" y="2790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8711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sz="135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Objective</a:t>
            </a:r>
            <a:endParaRPr lang="en-US" sz="3400" dirty="0"/>
          </a:p>
        </p:txBody>
      </p:sp>
      <p:sp>
        <p:nvSpPr>
          <p:cNvPr id="3" name="Objective points"/>
          <p:cNvSpPr txBox="1"/>
          <p:nvPr/>
        </p:nvSpPr>
        <p:spPr>
          <a:xfrm>
            <a:off x="457200" y="137160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Understand what cloud security is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Learn the main security models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See who protects what (shared responsibility)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Study a simple security architecture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Learn real-world practices and one use case</a:t>
            </a:r>
            <a:endParaRPr lang="en-US" sz="2000" dirty="0"/>
          </a:p>
        </p:txBody>
      </p:sp>
      <p:sp>
        <p:nvSpPr>
          <p:cNvPr id="4" name="Ring"/>
          <p:cNvSpPr/>
          <p:nvPr/>
        </p:nvSpPr>
        <p:spPr>
          <a:xfrm>
            <a:off x="6217920" y="1554480"/>
            <a:ext cx="2468880" cy="246888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5" name="Chip Cloud"/>
          <p:cNvSpPr/>
          <p:nvPr/>
        </p:nvSpPr>
        <p:spPr>
          <a:xfrm>
            <a:off x="6583680" y="192024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Cloud" descr="Clou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394" y="2371954"/>
            <a:ext cx="833933" cy="8339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Is Cloud Security?</a:t>
            </a:r>
            <a:endParaRPr lang="en-US" sz="3400" dirty="0"/>
          </a:p>
        </p:txBody>
      </p:sp>
      <p:sp>
        <p:nvSpPr>
          <p:cNvPr id="3" name="Card What it means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Chip What it means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What it means" descr="What it mea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6056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it means</a:t>
            </a:r>
            <a:endParaRPr lang="en-US" sz="2000" dirty="0"/>
          </a:p>
        </p:txBody>
      </p:sp>
      <p:sp>
        <p:nvSpPr>
          <p:cNvPr id="7" name="Points What it means"/>
          <p:cNvSpPr txBox="1"/>
          <p:nvPr/>
        </p:nvSpPr>
        <p:spPr>
          <a:xfrm>
            <a:off x="731520" y="22402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Protects data, apps, and services online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Covers people, rules, and tools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Needed because the cloud is open to the internet</a:t>
            </a:r>
            <a:endParaRPr lang="en-US" sz="1600" dirty="0"/>
          </a:p>
        </p:txBody>
      </p:sp>
      <p:sp>
        <p:nvSpPr>
          <p:cNvPr id="8" name="Card Three main goals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9" name="Chip Three main goals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Three main goals" descr="Three main goal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686" y="160568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Three main goals</a:t>
            </a:r>
            <a:endParaRPr lang="en-US" sz="2000" dirty="0"/>
          </a:p>
        </p:txBody>
      </p:sp>
      <p:sp>
        <p:nvSpPr>
          <p:cNvPr id="12" name="Points Three main goals"/>
          <p:cNvSpPr txBox="1"/>
          <p:nvPr/>
        </p:nvSpPr>
        <p:spPr>
          <a:xfrm>
            <a:off x="4937760" y="22402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Confidentiality: only the right people see the data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Integrity: data is not changed by attackers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Availability: systems work when needed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Security Models</a:t>
            </a:r>
            <a:endParaRPr lang="en-US" sz="3400" dirty="0"/>
          </a:p>
        </p:txBody>
      </p:sp>
      <p:sp>
        <p:nvSpPr>
          <p:cNvPr id="3" name="Card Defense in Depth"/>
          <p:cNvSpPr/>
          <p:nvPr/>
        </p:nvSpPr>
        <p:spPr>
          <a:xfrm>
            <a:off x="457200" y="128016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Chip Defense in Depth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Defense in Depth" descr="Defense in Dep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6294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Defense in Depth</a:t>
            </a:r>
            <a:endParaRPr lang="en-US" sz="1800" dirty="0"/>
          </a:p>
        </p:txBody>
      </p:sp>
      <p:sp>
        <p:nvSpPr>
          <p:cNvPr id="7" name="Points Defense in Depth"/>
          <p:cNvSpPr txBox="1"/>
          <p:nvPr/>
        </p:nvSpPr>
        <p:spPr>
          <a:xfrm>
            <a:off x="685800" y="27432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Many layers of protection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 one layer fails, others help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Example: firewall + login + encryption</a:t>
            </a:r>
            <a:endParaRPr lang="en-US" sz="1400" dirty="0"/>
          </a:p>
        </p:txBody>
      </p:sp>
      <p:sp>
        <p:nvSpPr>
          <p:cNvPr id="8" name="Card Zero Trust"/>
          <p:cNvSpPr/>
          <p:nvPr/>
        </p:nvSpPr>
        <p:spPr>
          <a:xfrm>
            <a:off x="3268980" y="128016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9" name="Chip Zero Trust"/>
          <p:cNvSpPr/>
          <p:nvPr/>
        </p:nvSpPr>
        <p:spPr>
          <a:xfrm>
            <a:off x="349758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Zero Trust" descr="Zero Tru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001" y="16294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9758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Zero Trust</a:t>
            </a:r>
            <a:endParaRPr lang="en-US" sz="1800" dirty="0"/>
          </a:p>
        </p:txBody>
      </p:sp>
      <p:sp>
        <p:nvSpPr>
          <p:cNvPr id="12" name="Points Zero Trust"/>
          <p:cNvSpPr txBox="1"/>
          <p:nvPr/>
        </p:nvSpPr>
        <p:spPr>
          <a:xfrm>
            <a:off x="3497580" y="27432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Never trust, always check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Verify every user and device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again on every request</a:t>
            </a:r>
            <a:endParaRPr lang="en-US" sz="1400" dirty="0"/>
          </a:p>
        </p:txBody>
      </p:sp>
      <p:sp>
        <p:nvSpPr>
          <p:cNvPr id="13" name="Card Least Privilege"/>
          <p:cNvSpPr/>
          <p:nvPr/>
        </p:nvSpPr>
        <p:spPr>
          <a:xfrm>
            <a:off x="6080760" y="128016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4" name="Chip Least Privilege"/>
          <p:cNvSpPr/>
          <p:nvPr/>
        </p:nvSpPr>
        <p:spPr>
          <a:xfrm>
            <a:off x="63093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Least Privilege" descr="Least Privile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781" y="16294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Least Privilege</a:t>
            </a:r>
            <a:endParaRPr lang="en-US" sz="1800" dirty="0"/>
          </a:p>
        </p:txBody>
      </p:sp>
      <p:sp>
        <p:nvSpPr>
          <p:cNvPr id="17" name="Points Least Privilege"/>
          <p:cNvSpPr txBox="1"/>
          <p:nvPr/>
        </p:nvSpPr>
        <p:spPr>
          <a:xfrm>
            <a:off x="6309360" y="27432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Give only the access needed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 access when not needed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Less access means less damage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Shared Responsibility Model</a:t>
            </a:r>
            <a:endParaRPr lang="en-US" sz="3400" dirty="0"/>
          </a:p>
        </p:txBody>
      </p:sp>
      <p:sp>
        <p:nvSpPr>
          <p:cNvPr id="3" name="Header IaaS"/>
          <p:cNvSpPr/>
          <p:nvPr/>
        </p:nvSpPr>
        <p:spPr>
          <a:xfrm>
            <a:off x="2697480" y="1188720"/>
            <a:ext cx="1874520" cy="411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697480" y="1188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IaaS</a:t>
            </a:r>
            <a:endParaRPr lang="en-US" sz="1600" dirty="0"/>
          </a:p>
        </p:txBody>
      </p:sp>
      <p:sp>
        <p:nvSpPr>
          <p:cNvPr id="5" name="Header PaaS"/>
          <p:cNvSpPr/>
          <p:nvPr/>
        </p:nvSpPr>
        <p:spPr>
          <a:xfrm>
            <a:off x="4709160" y="1188720"/>
            <a:ext cx="1874520" cy="411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09160" y="1188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PaaS</a:t>
            </a:r>
            <a:endParaRPr lang="en-US" sz="1600" dirty="0"/>
          </a:p>
        </p:txBody>
      </p:sp>
      <p:sp>
        <p:nvSpPr>
          <p:cNvPr id="7" name="Header SaaS"/>
          <p:cNvSpPr/>
          <p:nvPr/>
        </p:nvSpPr>
        <p:spPr>
          <a:xfrm>
            <a:off x="6720840" y="1188720"/>
            <a:ext cx="1874520" cy="411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1188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SaaS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</a:t>
            </a:r>
            <a:endParaRPr lang="en-US" sz="1400" dirty="0"/>
          </a:p>
        </p:txBody>
      </p:sp>
      <p:sp>
        <p:nvSpPr>
          <p:cNvPr id="10" name="Cell Data IaaS"/>
          <p:cNvSpPr/>
          <p:nvPr/>
        </p:nvSpPr>
        <p:spPr>
          <a:xfrm>
            <a:off x="2697480" y="1691640"/>
            <a:ext cx="1874520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9748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You</a:t>
            </a:r>
            <a:endParaRPr lang="en-US" sz="1400" dirty="0"/>
          </a:p>
        </p:txBody>
      </p:sp>
      <p:sp>
        <p:nvSpPr>
          <p:cNvPr id="12" name="Cell Data PaaS"/>
          <p:cNvSpPr/>
          <p:nvPr/>
        </p:nvSpPr>
        <p:spPr>
          <a:xfrm>
            <a:off x="4709160" y="1691640"/>
            <a:ext cx="1874520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You</a:t>
            </a:r>
            <a:endParaRPr lang="en-US" sz="1400" dirty="0"/>
          </a:p>
        </p:txBody>
      </p:sp>
      <p:sp>
        <p:nvSpPr>
          <p:cNvPr id="14" name="Cell Data SaaS"/>
          <p:cNvSpPr/>
          <p:nvPr/>
        </p:nvSpPr>
        <p:spPr>
          <a:xfrm>
            <a:off x="6720840" y="1691640"/>
            <a:ext cx="1874520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You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2219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Applications</a:t>
            </a:r>
            <a:endParaRPr lang="en-US" sz="1400" dirty="0"/>
          </a:p>
        </p:txBody>
      </p:sp>
      <p:sp>
        <p:nvSpPr>
          <p:cNvPr id="17" name="Cell Applications IaaS"/>
          <p:cNvSpPr/>
          <p:nvPr/>
        </p:nvSpPr>
        <p:spPr>
          <a:xfrm>
            <a:off x="2697480" y="2221992"/>
            <a:ext cx="1874520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97480" y="22219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You</a:t>
            </a:r>
            <a:endParaRPr lang="en-US" sz="1400" dirty="0"/>
          </a:p>
        </p:txBody>
      </p:sp>
      <p:sp>
        <p:nvSpPr>
          <p:cNvPr id="19" name="Cell Applications PaaS"/>
          <p:cNvSpPr/>
          <p:nvPr/>
        </p:nvSpPr>
        <p:spPr>
          <a:xfrm>
            <a:off x="4709160" y="2221992"/>
            <a:ext cx="1874520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09160" y="22219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You</a:t>
            </a:r>
            <a:endParaRPr lang="en-US" sz="1400" dirty="0"/>
          </a:p>
        </p:txBody>
      </p:sp>
      <p:sp>
        <p:nvSpPr>
          <p:cNvPr id="21" name="Cell Applications SaaS"/>
          <p:cNvSpPr/>
          <p:nvPr/>
        </p:nvSpPr>
        <p:spPr>
          <a:xfrm>
            <a:off x="6720840" y="2221992"/>
            <a:ext cx="187452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0840" y="22219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Provider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7523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Operating system</a:t>
            </a:r>
            <a:endParaRPr lang="en-US" sz="1400" dirty="0"/>
          </a:p>
        </p:txBody>
      </p:sp>
      <p:sp>
        <p:nvSpPr>
          <p:cNvPr id="24" name="Cell Operating system IaaS"/>
          <p:cNvSpPr/>
          <p:nvPr/>
        </p:nvSpPr>
        <p:spPr>
          <a:xfrm>
            <a:off x="2697480" y="2752344"/>
            <a:ext cx="1874520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697480" y="275234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You</a:t>
            </a:r>
            <a:endParaRPr lang="en-US" sz="1400" dirty="0"/>
          </a:p>
        </p:txBody>
      </p:sp>
      <p:sp>
        <p:nvSpPr>
          <p:cNvPr id="26" name="Cell Operating system PaaS"/>
          <p:cNvSpPr/>
          <p:nvPr/>
        </p:nvSpPr>
        <p:spPr>
          <a:xfrm>
            <a:off x="4709160" y="2752344"/>
            <a:ext cx="187452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09160" y="275234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Provider</a:t>
            </a:r>
            <a:endParaRPr lang="en-US" sz="1400" dirty="0"/>
          </a:p>
        </p:txBody>
      </p:sp>
      <p:sp>
        <p:nvSpPr>
          <p:cNvPr id="28" name="Cell Operating system SaaS"/>
          <p:cNvSpPr/>
          <p:nvPr/>
        </p:nvSpPr>
        <p:spPr>
          <a:xfrm>
            <a:off x="6720840" y="2752344"/>
            <a:ext cx="187452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20840" y="275234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Provider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2826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Servers and network</a:t>
            </a:r>
            <a:endParaRPr lang="en-US" sz="1400" dirty="0"/>
          </a:p>
        </p:txBody>
      </p:sp>
      <p:sp>
        <p:nvSpPr>
          <p:cNvPr id="31" name="Cell Servers and network IaaS"/>
          <p:cNvSpPr/>
          <p:nvPr/>
        </p:nvSpPr>
        <p:spPr>
          <a:xfrm>
            <a:off x="2697480" y="3282696"/>
            <a:ext cx="187452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697480" y="32826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Provider</a:t>
            </a:r>
            <a:endParaRPr lang="en-US" sz="1400" dirty="0"/>
          </a:p>
        </p:txBody>
      </p:sp>
      <p:sp>
        <p:nvSpPr>
          <p:cNvPr id="33" name="Cell Servers and network PaaS"/>
          <p:cNvSpPr/>
          <p:nvPr/>
        </p:nvSpPr>
        <p:spPr>
          <a:xfrm>
            <a:off x="4709160" y="3282696"/>
            <a:ext cx="187452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09160" y="32826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Provider</a:t>
            </a:r>
            <a:endParaRPr lang="en-US" sz="1400" dirty="0"/>
          </a:p>
        </p:txBody>
      </p:sp>
      <p:sp>
        <p:nvSpPr>
          <p:cNvPr id="35" name="Cell Servers and network SaaS"/>
          <p:cNvSpPr/>
          <p:nvPr/>
        </p:nvSpPr>
        <p:spPr>
          <a:xfrm>
            <a:off x="6720840" y="3282696"/>
            <a:ext cx="187452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20840" y="32826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Provider</a:t>
            </a:r>
            <a:endParaRPr lang="en-US" sz="1400" dirty="0"/>
          </a:p>
        </p:txBody>
      </p:sp>
      <p:sp>
        <p:nvSpPr>
          <p:cNvPr id="37" name="Legend You"/>
          <p:cNvSpPr/>
          <p:nvPr/>
        </p:nvSpPr>
        <p:spPr>
          <a:xfrm>
            <a:off x="457200" y="3959352"/>
            <a:ext cx="228600" cy="228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7724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You (the customer)</a:t>
            </a:r>
            <a:endParaRPr lang="en-US" sz="1400" dirty="0"/>
          </a:p>
        </p:txBody>
      </p:sp>
      <p:sp>
        <p:nvSpPr>
          <p:cNvPr id="39" name="Legend Provider"/>
          <p:cNvSpPr/>
          <p:nvPr/>
        </p:nvSpPr>
        <p:spPr>
          <a:xfrm>
            <a:off x="3063240" y="3959352"/>
            <a:ext cx="228600" cy="228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38328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Cloud provider</a:t>
            </a:r>
            <a:endParaRPr lang="en-US" sz="1400" dirty="0"/>
          </a:p>
        </p:txBody>
      </p:sp>
      <p:sp>
        <p:nvSpPr>
          <p:cNvPr id="41" name="Terms note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IaaS = rent servers  |  PaaS = rent a platform  |  SaaS = use ready software</a:t>
            </a:r>
            <a:endParaRPr lang="en-US" sz="14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Shared Responsibility: Key Points</a:t>
            </a:r>
            <a:endParaRPr lang="en-US" sz="3400" dirty="0"/>
          </a:p>
        </p:txBody>
      </p:sp>
      <p:sp>
        <p:nvSpPr>
          <p:cNvPr id="3" name="Card Provider secures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4" name="Chip Provider secures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Provider secures" descr="Provider secu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5599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Provider secures</a:t>
            </a:r>
            <a:endParaRPr lang="en-US" sz="2000" dirty="0"/>
          </a:p>
        </p:txBody>
      </p:sp>
      <p:sp>
        <p:nvSpPr>
          <p:cNvPr id="7" name="Points Provider secures"/>
          <p:cNvSpPr txBox="1"/>
          <p:nvPr/>
        </p:nvSpPr>
        <p:spPr>
          <a:xfrm>
            <a:off x="731520" y="214884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centers and buildings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Servers and hardware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core network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Basic cloud software and updates</a:t>
            </a:r>
            <a:endParaRPr lang="en-US" sz="1600" dirty="0"/>
          </a:p>
        </p:txBody>
      </p:sp>
      <p:sp>
        <p:nvSpPr>
          <p:cNvPr id="8" name="Card You secure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9" name="Chip You secure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 You secure" descr="You sec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686" y="15599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You secure</a:t>
            </a:r>
            <a:endParaRPr lang="en-US" sz="2000" dirty="0"/>
          </a:p>
        </p:txBody>
      </p:sp>
      <p:sp>
        <p:nvSpPr>
          <p:cNvPr id="12" name="Points You secure"/>
          <p:cNvSpPr txBox="1"/>
          <p:nvPr/>
        </p:nvSpPr>
        <p:spPr>
          <a:xfrm>
            <a:off x="4937760" y="214884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Your data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Who can log in and what they can do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Your settings and rules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Apps you build and run</a:t>
            </a:r>
            <a:endParaRPr lang="en-US" sz="1600" dirty="0"/>
          </a:p>
        </p:txBody>
      </p:sp>
      <p:sp>
        <p:nvSpPr>
          <p:cNvPr id="13" name="Note box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and access are always your job.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Cloud Security Architecture</a:t>
            </a:r>
            <a:endParaRPr lang="en-US" sz="3400" dirty="0"/>
          </a:p>
        </p:txBody>
      </p:sp>
      <p:sp>
        <p:nvSpPr>
          <p:cNvPr id="3" name="Step User"/>
          <p:cNvSpPr/>
          <p:nvPr/>
        </p:nvSpPr>
        <p:spPr>
          <a:xfrm>
            <a:off x="457200" y="1234440"/>
            <a:ext cx="1188720" cy="22860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Chip User"/>
          <p:cNvSpPr/>
          <p:nvPr/>
        </p:nvSpPr>
        <p:spPr>
          <a:xfrm>
            <a:off x="548640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User" descr="U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5261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974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Wants to log in</a:t>
            </a:r>
            <a:endParaRPr lang="en-US" sz="1200" dirty="0"/>
          </a:p>
        </p:txBody>
      </p:sp>
      <p:sp>
        <p:nvSpPr>
          <p:cNvPr id="8" name="Arrow 1"/>
          <p:cNvSpPr/>
          <p:nvPr/>
        </p:nvSpPr>
        <p:spPr>
          <a:xfrm>
            <a:off x="1664208" y="2240280"/>
            <a:ext cx="182880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Step Identity check"/>
          <p:cNvSpPr/>
          <p:nvPr/>
        </p:nvSpPr>
        <p:spPr>
          <a:xfrm>
            <a:off x="1865376" y="1234440"/>
            <a:ext cx="1188720" cy="22860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Chip Identity check"/>
          <p:cNvSpPr/>
          <p:nvPr/>
        </p:nvSpPr>
        <p:spPr>
          <a:xfrm>
            <a:off x="1956816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Identity check" descr="Identity 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350" y="15261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56816" y="2103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Identity check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956816" y="26974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Password plus MFA</a:t>
            </a:r>
            <a:endParaRPr lang="en-US" sz="1200" dirty="0"/>
          </a:p>
        </p:txBody>
      </p:sp>
      <p:sp>
        <p:nvSpPr>
          <p:cNvPr id="14" name="Arrow 2"/>
          <p:cNvSpPr/>
          <p:nvPr/>
        </p:nvSpPr>
        <p:spPr>
          <a:xfrm>
            <a:off x="3072384" y="2240280"/>
            <a:ext cx="182880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Step Firewall (WAF)"/>
          <p:cNvSpPr/>
          <p:nvPr/>
        </p:nvSpPr>
        <p:spPr>
          <a:xfrm>
            <a:off x="3273552" y="1234440"/>
            <a:ext cx="1188720" cy="22860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6" name="Chip Firewall (WAF)"/>
          <p:cNvSpPr/>
          <p:nvPr/>
        </p:nvSpPr>
        <p:spPr>
          <a:xfrm>
            <a:off x="3364992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Firewall (WAF)" descr="Firewall (WAF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526" y="152613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364992" y="2103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Firewall (WAF)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3364992" y="26974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Blocks bad traffic</a:t>
            </a:r>
            <a:endParaRPr lang="en-US" sz="1200" dirty="0"/>
          </a:p>
        </p:txBody>
      </p:sp>
      <p:sp>
        <p:nvSpPr>
          <p:cNvPr id="20" name="Arrow 3"/>
          <p:cNvSpPr/>
          <p:nvPr/>
        </p:nvSpPr>
        <p:spPr>
          <a:xfrm>
            <a:off x="4480560" y="2240280"/>
            <a:ext cx="182880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1" name="Step Private network"/>
          <p:cNvSpPr/>
          <p:nvPr/>
        </p:nvSpPr>
        <p:spPr>
          <a:xfrm>
            <a:off x="4681728" y="1234440"/>
            <a:ext cx="1188720" cy="22860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2" name="Chip Private network"/>
          <p:cNvSpPr/>
          <p:nvPr/>
        </p:nvSpPr>
        <p:spPr>
          <a:xfrm>
            <a:off x="4773168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 Private network" descr="Private networ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702" y="152613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73168" y="2103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Private network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4773168" y="26974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Splits cloud into zones</a:t>
            </a:r>
            <a:endParaRPr lang="en-US" sz="1200" dirty="0"/>
          </a:p>
        </p:txBody>
      </p:sp>
      <p:sp>
        <p:nvSpPr>
          <p:cNvPr id="26" name="Arrow 4"/>
          <p:cNvSpPr/>
          <p:nvPr/>
        </p:nvSpPr>
        <p:spPr>
          <a:xfrm>
            <a:off x="5888736" y="2240280"/>
            <a:ext cx="182880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7" name="Step Application"/>
          <p:cNvSpPr/>
          <p:nvPr/>
        </p:nvSpPr>
        <p:spPr>
          <a:xfrm>
            <a:off x="6089904" y="1234440"/>
            <a:ext cx="1188720" cy="22860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8" name="Chip Application"/>
          <p:cNvSpPr/>
          <p:nvPr/>
        </p:nvSpPr>
        <p:spPr>
          <a:xfrm>
            <a:off x="6181344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 Application" descr="Applic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5878" y="1526134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181344" y="2103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6181344" y="26974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Runs in the cloud</a:t>
            </a:r>
            <a:endParaRPr lang="en-US" sz="1200" dirty="0"/>
          </a:p>
        </p:txBody>
      </p:sp>
      <p:sp>
        <p:nvSpPr>
          <p:cNvPr id="32" name="Arrow 5"/>
          <p:cNvSpPr/>
          <p:nvPr/>
        </p:nvSpPr>
        <p:spPr>
          <a:xfrm>
            <a:off x="7296912" y="2240280"/>
            <a:ext cx="182880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3" name="Step Data"/>
          <p:cNvSpPr/>
          <p:nvPr/>
        </p:nvSpPr>
        <p:spPr>
          <a:xfrm>
            <a:off x="7498080" y="1234440"/>
            <a:ext cx="1188720" cy="22860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34" name="Chip Data"/>
          <p:cNvSpPr/>
          <p:nvPr/>
        </p:nvSpPr>
        <p:spPr>
          <a:xfrm>
            <a:off x="7589520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con Data" descr="Dat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054" y="1526134"/>
            <a:ext cx="285293" cy="285293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589520" y="2103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7589520" y="26974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Encrypted at rest and in transit</a:t>
            </a:r>
            <a:endParaRPr lang="en-US" sz="1200" dirty="0"/>
          </a:p>
        </p:txBody>
      </p:sp>
      <p:sp>
        <p:nvSpPr>
          <p:cNvPr id="38" name="Strip FaEye"/>
          <p:cNvSpPr/>
          <p:nvPr/>
        </p:nvSpPr>
        <p:spPr>
          <a:xfrm>
            <a:off x="457200" y="379476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39" name="Chip FaEye"/>
          <p:cNvSpPr/>
          <p:nvPr/>
        </p:nvSpPr>
        <p:spPr>
          <a:xfrm>
            <a:off x="640080" y="39319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Icon FaEye" descr="FaEy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065" y="4038905"/>
            <a:ext cx="197510" cy="19751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188720" y="37947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Monitoring and logging: watch every step</a:t>
            </a:r>
            <a:endParaRPr lang="en-US" sz="1400" dirty="0"/>
          </a:p>
        </p:txBody>
      </p:sp>
      <p:sp>
        <p:nvSpPr>
          <p:cNvPr id="42" name="Strip FaSave"/>
          <p:cNvSpPr/>
          <p:nvPr/>
        </p:nvSpPr>
        <p:spPr>
          <a:xfrm>
            <a:off x="4663440" y="379476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43" name="Chip FaSave"/>
          <p:cNvSpPr/>
          <p:nvPr/>
        </p:nvSpPr>
        <p:spPr>
          <a:xfrm>
            <a:off x="4846320" y="39319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4" name="Icon FaSave" descr="FaSav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305" y="4038905"/>
            <a:ext cx="197510" cy="19751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394960" y="37947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Backup and recovery: restore after an attack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Each Layer Does</a:t>
            </a:r>
            <a:endParaRPr lang="en-US" sz="3400" dirty="0"/>
          </a:p>
        </p:txBody>
      </p:sp>
      <p:sp>
        <p:nvSpPr>
          <p:cNvPr id="3" name="Side panel"/>
          <p:cNvSpPr/>
          <p:nvPr/>
        </p:nvSpPr>
        <p:spPr>
          <a:xfrm>
            <a:off x="457200" y="1280160"/>
            <a:ext cx="1828800" cy="32004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4" name="Chip Layers"/>
          <p:cNvSpPr/>
          <p:nvPr/>
        </p:nvSpPr>
        <p:spPr>
          <a:xfrm>
            <a:off x="822960" y="173736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 Layers" descr="Lay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3" y="202265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063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Layers of defense</a:t>
            </a:r>
            <a:endParaRPr lang="en-US" sz="1800" dirty="0"/>
          </a:p>
        </p:txBody>
      </p:sp>
      <p:sp>
        <p:nvSpPr>
          <p:cNvPr id="7" name="Layer points"/>
          <p:cNvSpPr txBox="1"/>
          <p:nvPr/>
        </p:nvSpPr>
        <p:spPr>
          <a:xfrm>
            <a:off x="2651760" y="1280160"/>
            <a:ext cx="6035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User: asks to use the app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Identity check: IAM and MFA prove who they are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Firewall (WAF): blocks attacks and bots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Private network: stops attackers moving around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Application: kept updated and checked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Data: locked with encryption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Monitoring and backup: alerts and copies for recovery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Real-World Security Practices</a:t>
            </a:r>
            <a:endParaRPr lang="en-US" sz="3400" dirty="0"/>
          </a:p>
        </p:txBody>
      </p:sp>
      <p:sp>
        <p:nvSpPr>
          <p:cNvPr id="3" name="Card Strong login (MFA)"/>
          <p:cNvSpPr/>
          <p:nvPr/>
        </p:nvSpPr>
        <p:spPr>
          <a:xfrm>
            <a:off x="45720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Strong login (MFA)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214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a password plus a second step.</a:t>
            </a:r>
            <a:endParaRPr lang="en-US" sz="1400" dirty="0"/>
          </a:p>
        </p:txBody>
      </p:sp>
      <p:sp>
        <p:nvSpPr>
          <p:cNvPr id="8" name="Card Encrypt data"/>
          <p:cNvSpPr/>
          <p:nvPr/>
        </p:nvSpPr>
        <p:spPr>
          <a:xfrm>
            <a:off x="326898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345186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137660" y="1463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Encrypt data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21214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Lock data when stored and when sent.</a:t>
            </a:r>
            <a:endParaRPr lang="en-US" sz="1400" dirty="0"/>
          </a:p>
        </p:txBody>
      </p:sp>
      <p:sp>
        <p:nvSpPr>
          <p:cNvPr id="13" name="Card Limit access"/>
          <p:cNvSpPr/>
          <p:nvPr/>
        </p:nvSpPr>
        <p:spPr>
          <a:xfrm>
            <a:off x="608076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626364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463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 access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214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Give each person only what they need.</a:t>
            </a:r>
            <a:endParaRPr lang="en-US" sz="1400" dirty="0"/>
          </a:p>
        </p:txBody>
      </p:sp>
      <p:sp>
        <p:nvSpPr>
          <p:cNvPr id="18" name="Card Update often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Number 4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108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Update often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673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Install patches to fix known holes.</a:t>
            </a:r>
            <a:endParaRPr lang="en-US" sz="1400" dirty="0"/>
          </a:p>
        </p:txBody>
      </p:sp>
      <p:sp>
        <p:nvSpPr>
          <p:cNvPr id="23" name="Card Back up data"/>
          <p:cNvSpPr/>
          <p:nvPr/>
        </p:nvSpPr>
        <p:spPr>
          <a:xfrm>
            <a:off x="326898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Number 5"/>
          <p:cNvSpPr/>
          <p:nvPr/>
        </p:nvSpPr>
        <p:spPr>
          <a:xfrm>
            <a:off x="345186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518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137660" y="3108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Back up data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51860" y="37673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Keep copies to recover after an attack.</a:t>
            </a:r>
            <a:endParaRPr lang="en-US" sz="1400" dirty="0"/>
          </a:p>
        </p:txBody>
      </p:sp>
      <p:sp>
        <p:nvSpPr>
          <p:cNvPr id="28" name="Card Watch and alert"/>
          <p:cNvSpPr/>
          <p:nvPr/>
        </p:nvSpPr>
        <p:spPr>
          <a:xfrm>
            <a:off x="608076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Number 6"/>
          <p:cNvSpPr/>
          <p:nvPr/>
        </p:nvSpPr>
        <p:spPr>
          <a:xfrm>
            <a:off x="626364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636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108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Watch and alert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7673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 logs and get alerts fast.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Real-World Use Case</a:t>
            </a:r>
            <a:endParaRPr lang="en-US" sz="3400" dirty="0"/>
          </a:p>
        </p:txBody>
      </p:sp>
      <p:sp>
        <p:nvSpPr>
          <p:cNvPr id="3" name="Stat panel"/>
          <p:cNvSpPr/>
          <p:nvPr/>
        </p:nvSpPr>
        <p:spPr>
          <a:xfrm>
            <a:off x="457200" y="1280160"/>
            <a:ext cx="3108960" cy="320040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Capital One breach, 2019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</a:rPr>
              <a:t>~100M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08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people's data was exposed</a:t>
            </a:r>
            <a:endParaRPr lang="en-US" sz="1800" dirty="0"/>
          </a:p>
        </p:txBody>
      </p:sp>
      <p:sp>
        <p:nvSpPr>
          <p:cNvPr id="7" name="Chip What happened"/>
          <p:cNvSpPr/>
          <p:nvPr/>
        </p:nvSpPr>
        <p:spPr>
          <a:xfrm>
            <a:off x="3840480" y="1280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What happened" descr="What happen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578" y="1375258"/>
            <a:ext cx="175565" cy="1755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343400" y="1280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happened</a:t>
            </a:r>
            <a:endParaRPr lang="en-US" sz="1800" dirty="0"/>
          </a:p>
        </p:txBody>
      </p:sp>
      <p:sp>
        <p:nvSpPr>
          <p:cNvPr id="10" name="Points What happened"/>
          <p:cNvSpPr txBox="1"/>
          <p:nvPr/>
        </p:nvSpPr>
        <p:spPr>
          <a:xfrm>
            <a:off x="4343400" y="16916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cloud firewall was set up wrong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hacker found the gap</a:t>
            </a:r>
            <a:endParaRPr lang="en-US" sz="1400" dirty="0"/>
          </a:p>
        </p:txBody>
      </p:sp>
      <p:sp>
        <p:nvSpPr>
          <p:cNvPr id="11" name="Chip What it caused"/>
          <p:cNvSpPr/>
          <p:nvPr/>
        </p:nvSpPr>
        <p:spPr>
          <a:xfrm>
            <a:off x="3840480" y="2423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 What it caused" descr="What it caus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578" y="2518258"/>
            <a:ext cx="175565" cy="1755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3400" y="2423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it caused</a:t>
            </a:r>
            <a:endParaRPr lang="en-US" sz="1800" dirty="0"/>
          </a:p>
        </p:txBody>
      </p:sp>
      <p:sp>
        <p:nvSpPr>
          <p:cNvPr id="14" name="Points What it caused"/>
          <p:cNvSpPr txBox="1"/>
          <p:nvPr/>
        </p:nvSpPr>
        <p:spPr>
          <a:xfrm>
            <a:off x="4343400" y="28346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Private data in the cloud was reached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About 100M people were affected</a:t>
            </a:r>
            <a:endParaRPr lang="en-US" sz="1400" dirty="0"/>
          </a:p>
        </p:txBody>
      </p:sp>
      <p:sp>
        <p:nvSpPr>
          <p:cNvPr id="15" name="Chip Lessons"/>
          <p:cNvSpPr/>
          <p:nvPr/>
        </p:nvSpPr>
        <p:spPr>
          <a:xfrm>
            <a:off x="3840480" y="3566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 Lessons" descr="Less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5578" y="3661258"/>
            <a:ext cx="175565" cy="1755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34340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Lessons</a:t>
            </a:r>
            <a:endParaRPr lang="en-US" sz="1800" dirty="0"/>
          </a:p>
        </p:txBody>
      </p:sp>
      <p:sp>
        <p:nvSpPr>
          <p:cNvPr id="18" name="Points Lessons"/>
          <p:cNvSpPr txBox="1"/>
          <p:nvPr/>
        </p:nvSpPr>
        <p:spPr>
          <a:xfrm>
            <a:off x="4343400" y="39776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Setup mistakes are a big risk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settings often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Know your part of shared responsibility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Chip Check 1"/>
          <p:cNvSpPr/>
          <p:nvPr/>
        </p:nvSpPr>
        <p:spPr>
          <a:xfrm>
            <a:off x="457200" y="13258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con Check 1" descr="Chec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5" y="1432865"/>
            <a:ext cx="197510" cy="1975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Use many layers and Zero Trust.</a:t>
            </a:r>
            <a:endParaRPr lang="en-US" sz="2000" dirty="0"/>
          </a:p>
        </p:txBody>
      </p:sp>
      <p:sp>
        <p:nvSpPr>
          <p:cNvPr id="6" name="Chip Check 2"/>
          <p:cNvSpPr/>
          <p:nvPr/>
        </p:nvSpPr>
        <p:spPr>
          <a:xfrm>
            <a:off x="457200" y="19659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 Check 2" descr="Chec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5" y="2072945"/>
            <a:ext cx="197510" cy="19751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9659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Know your part of the shared responsibility.</a:t>
            </a:r>
            <a:endParaRPr lang="en-US" sz="2000" dirty="0"/>
          </a:p>
        </p:txBody>
      </p:sp>
      <p:sp>
        <p:nvSpPr>
          <p:cNvPr id="9" name="Chip Check 3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 Check 3" descr="Chec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5" y="2713025"/>
            <a:ext cx="197510" cy="19751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606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Control access, encrypt data, and monitor.</a:t>
            </a:r>
            <a:endParaRPr lang="en-US" sz="2000" dirty="0"/>
          </a:p>
        </p:txBody>
      </p:sp>
      <p:sp>
        <p:nvSpPr>
          <p:cNvPr id="12" name="Key takeaway box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tx1"/>
                </a:solidFill>
              </a:rPr>
              <a:t>KEY TAKEAWAY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3886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provider secures the cloud. You secure what you put in it.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 Security">
  <a:themeElements>
    <a:clrScheme name="Cloud Security">
      <a:dk1>
        <a:srgbClr val="1B2A2F"/>
      </a:dk1>
      <a:lt1>
        <a:srgbClr val="FFFFFF"/>
      </a:lt1>
      <a:dk2>
        <a:srgbClr val="0F3D3E"/>
      </a:dk2>
      <a:lt2>
        <a:srgbClr val="E8F1F1"/>
      </a:lt2>
      <a:accent1>
        <a:srgbClr val="0F7C7C"/>
      </a:accent1>
      <a:accent2>
        <a:srgbClr val="F2A900"/>
      </a:accent2>
      <a:accent3>
        <a:srgbClr val="2F6F9F"/>
      </a:accent3>
      <a:accent4>
        <a:srgbClr val="D9534F"/>
      </a:accent4>
      <a:accent5>
        <a:srgbClr val="5BA37A"/>
      </a:accent5>
      <a:accent6>
        <a:srgbClr val="6B7B80"/>
      </a:accent6>
      <a:hlink>
        <a:srgbClr val="0F7C7C"/>
      </a:hlink>
      <a:folHlink>
        <a:srgbClr val="6B7B80"/>
      </a:folHlink>
    </a:clrScheme>
    <a:fontScheme name="Cloud Secur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685</Words>
  <Application>Microsoft Office PowerPoint</Application>
  <PresentationFormat>On-screen Show (16:9)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Cloud Security</vt:lpstr>
      <vt:lpstr>Cloud Security Fundamentals</vt:lpstr>
      <vt:lpstr>Objective</vt:lpstr>
      <vt:lpstr>What Is Cloud Security?</vt:lpstr>
      <vt:lpstr>Security Models</vt:lpstr>
      <vt:lpstr>Shared Responsibility Model</vt:lpstr>
      <vt:lpstr>Shared Responsibility: Key Points</vt:lpstr>
      <vt:lpstr>Cloud Security Architecture</vt:lpstr>
      <vt:lpstr>What Each Layer Does</vt:lpstr>
      <vt:lpstr>Real-World Security Practices</vt:lpstr>
      <vt:lpstr>Real-World Use Case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Security Fundamentals</dc:title>
  <dc:subject>PptxGenJS Presentation</dc:subject>
  <dc:creator>PptxGenJS</dc:creator>
  <cp:lastModifiedBy>Krishna R</cp:lastModifiedBy>
  <cp:revision>2</cp:revision>
  <dcterms:created xsi:type="dcterms:W3CDTF">2026-10-14T03:56:41Z</dcterms:created>
  <dcterms:modified xsi:type="dcterms:W3CDTF">2026-10-14T04:36:14Z</dcterms:modified>
</cp:coreProperties>
</file>